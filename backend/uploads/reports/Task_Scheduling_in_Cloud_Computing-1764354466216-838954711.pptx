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>
        <p:scale>
          <a:sx n="63" d="100"/>
          <a:sy n="63" d="100"/>
        </p:scale>
        <p:origin x="760" y="-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DCA38-FAC4-4261-9B54-6E59000CCC2F}" type="datetimeFigureOut">
              <a:rPr lang="en-IN" smtClean="0"/>
              <a:t>31-08-2025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12431-05B5-46A6-9978-2EF60E4AF0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7073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8/31/2025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5080C-FF2F-EDAE-9450-36C5CB7114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Task Scheduling in Cloud Computing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90233A-A6B5-59A7-F2A2-21D210DE7B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Tanmayee Chanda (</a:t>
            </a:r>
            <a:r>
              <a:rPr lang="en-IN" dirty="0"/>
              <a:t>AP23110011035)</a:t>
            </a:r>
          </a:p>
          <a:p>
            <a:r>
              <a:rPr lang="en-IN" dirty="0"/>
              <a:t> Guided by -  Dr. Sambit Kumar Mishra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664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9A867-120A-6CED-5A65-5DF28DC4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 fontScale="90000"/>
          </a:bodyPr>
          <a:lstStyle/>
          <a:p>
            <a:r>
              <a:rPr lang="en-US" dirty="0"/>
              <a:t>Purpose: Revolutionizing Cloud Task Allocation</a:t>
            </a:r>
            <a:br>
              <a:rPr lang="en-US" dirty="0"/>
            </a:b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E9C7339-9D0A-9B08-BD6B-97748867BB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6720155"/>
              </p:ext>
            </p:extLst>
          </p:nvPr>
        </p:nvGraphicFramePr>
        <p:xfrm>
          <a:off x="1450975" y="2016124"/>
          <a:ext cx="9604374" cy="3206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1458">
                  <a:extLst>
                    <a:ext uri="{9D8B030D-6E8A-4147-A177-3AD203B41FA5}">
                      <a16:colId xmlns:a16="http://schemas.microsoft.com/office/drawing/2014/main" val="903224052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416569750"/>
                    </a:ext>
                  </a:extLst>
                </a:gridCol>
                <a:gridCol w="3201458">
                  <a:extLst>
                    <a:ext uri="{9D8B030D-6E8A-4147-A177-3AD203B41FA5}">
                      <a16:colId xmlns:a16="http://schemas.microsoft.com/office/drawing/2014/main" val="1770505073"/>
                    </a:ext>
                  </a:extLst>
                </a:gridCol>
              </a:tblGrid>
              <a:tr h="3206116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0567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D3B99C5-27D3-03B0-F9B3-23EE2D48B2FE}"/>
              </a:ext>
            </a:extLst>
          </p:cNvPr>
          <p:cNvSpPr txBox="1"/>
          <p:nvPr/>
        </p:nvSpPr>
        <p:spPr>
          <a:xfrm>
            <a:off x="1686560" y="2458720"/>
            <a:ext cx="27025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Optimize Task Allocation</a:t>
            </a:r>
          </a:p>
          <a:p>
            <a:r>
              <a:rPr lang="en-US" sz="2400" dirty="0"/>
              <a:t>Streamlining how computing tasks are assigned to available resources.</a:t>
            </a:r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E1601E-D2CA-88D1-8477-495631DB1543}"/>
              </a:ext>
            </a:extLst>
          </p:cNvPr>
          <p:cNvSpPr txBox="1"/>
          <p:nvPr/>
        </p:nvSpPr>
        <p:spPr>
          <a:xfrm>
            <a:off x="8016240" y="2346960"/>
            <a:ext cx="2895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Enhance Execution Time</a:t>
            </a:r>
          </a:p>
          <a:p>
            <a:r>
              <a:rPr lang="en-US" sz="2400" dirty="0"/>
              <a:t>Minimizing the time taken for tasks to complete from submission to output.</a:t>
            </a: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95EEDA-7184-0E25-6B08-EEECBFE37A38}"/>
              </a:ext>
            </a:extLst>
          </p:cNvPr>
          <p:cNvSpPr txBox="1"/>
          <p:nvPr/>
        </p:nvSpPr>
        <p:spPr>
          <a:xfrm>
            <a:off x="4805362" y="2346960"/>
            <a:ext cx="2895600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Improve Resource Utilization</a:t>
            </a:r>
          </a:p>
          <a:p>
            <a:r>
              <a:rPr lang="en-US" sz="2400" dirty="0"/>
              <a:t>Ensuring that cloud infrastructure (CPUs, memory, network) is used as efficiently as possible.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569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79816-1DBB-1A37-2BB1-6B5BB74A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dirty="0"/>
              <a:t>The Challenges of Manual Allocation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16C4D-B17A-29D0-7099-E910D2E0C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186187"/>
          </a:xfrm>
        </p:spPr>
        <p:txBody>
          <a:bodyPr>
            <a:normAutofit/>
          </a:bodyPr>
          <a:lstStyle/>
          <a:p>
            <a:r>
              <a:rPr lang="en-US" sz="2400" b="1" dirty="0"/>
              <a:t>Significant Delays:</a:t>
            </a:r>
            <a:r>
              <a:rPr lang="en-US" sz="2400" dirty="0"/>
              <a:t> Tasks often experienced prolonged waiting times due to inefficient queue management.</a:t>
            </a:r>
          </a:p>
          <a:p>
            <a:r>
              <a:rPr lang="en-US" sz="2400" b="1" dirty="0"/>
              <a:t>Uneven Workload Distribution:</a:t>
            </a:r>
            <a:r>
              <a:rPr lang="en-US" sz="2400" dirty="0"/>
              <a:t> Some servers were overloaded while others remained underutilized, leading to bottlenecks.</a:t>
            </a:r>
          </a:p>
          <a:p>
            <a:r>
              <a:rPr lang="en-US" sz="2400" b="1" dirty="0"/>
              <a:t>Poor Resource Utilization:</a:t>
            </a:r>
            <a:r>
              <a:rPr lang="en-US" sz="2400" dirty="0"/>
              <a:t> Overall, our cloud resources were not being leveraged to their full potential, increasing operational costs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9108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0830F-6389-A1D7-1BC6-83254FF0B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Week 1: Laying the Foundation – Cloud Computing Basics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7D67B1-0F5B-8AAA-DBA5-FA0F819870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68177"/>
              </p:ext>
            </p:extLst>
          </p:nvPr>
        </p:nvGraphicFramePr>
        <p:xfrm>
          <a:off x="1450975" y="2016124"/>
          <a:ext cx="9604374" cy="3165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210862938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3050317260"/>
                    </a:ext>
                  </a:extLst>
                </a:gridCol>
              </a:tblGrid>
              <a:tr h="158273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321614"/>
                  </a:ext>
                </a:extLst>
              </a:tr>
              <a:tr h="158273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3338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2B87979-2F03-EFD1-7060-27F4844FE94D}"/>
              </a:ext>
            </a:extLst>
          </p:cNvPr>
          <p:cNvSpPr txBox="1"/>
          <p:nvPr/>
        </p:nvSpPr>
        <p:spPr>
          <a:xfrm>
            <a:off x="1742122" y="2136338"/>
            <a:ext cx="451104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Definition</a:t>
            </a:r>
          </a:p>
          <a:p>
            <a:r>
              <a:rPr lang="en-US" sz="2000" dirty="0"/>
              <a:t>On-demand availability of computer system resources.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36DDD-D534-B84D-4E9D-688D537174F0}"/>
              </a:ext>
            </a:extLst>
          </p:cNvPr>
          <p:cNvSpPr txBox="1"/>
          <p:nvPr/>
        </p:nvSpPr>
        <p:spPr>
          <a:xfrm>
            <a:off x="6544309" y="2136338"/>
            <a:ext cx="43992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Service Models</a:t>
            </a:r>
          </a:p>
          <a:p>
            <a:r>
              <a:rPr lang="en-IN" sz="2000" dirty="0"/>
              <a:t>IaaS (Infrastructure as a Service)</a:t>
            </a:r>
          </a:p>
          <a:p>
            <a:r>
              <a:rPr lang="en-IN" sz="2000" dirty="0"/>
              <a:t>PaaS (Platform as a Service)</a:t>
            </a:r>
          </a:p>
          <a:p>
            <a:r>
              <a:rPr lang="en-IN" sz="2000" dirty="0"/>
              <a:t>SaaS (Software as a Service)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48E3E3-E76B-FA2E-57F0-A2B9D0770F19}"/>
              </a:ext>
            </a:extLst>
          </p:cNvPr>
          <p:cNvSpPr txBox="1"/>
          <p:nvPr/>
        </p:nvSpPr>
        <p:spPr>
          <a:xfrm>
            <a:off x="1670368" y="3891280"/>
            <a:ext cx="451104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Deployment Models</a:t>
            </a:r>
          </a:p>
          <a:p>
            <a:r>
              <a:rPr lang="en-US" sz="2000" dirty="0"/>
              <a:t>Public, Private, Hybrid, Community</a:t>
            </a:r>
          </a:p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2ED51DD-C2C9-C852-34D3-8536FCC34441}"/>
              </a:ext>
            </a:extLst>
          </p:cNvPr>
          <p:cNvSpPr txBox="1"/>
          <p:nvPr/>
        </p:nvSpPr>
        <p:spPr>
          <a:xfrm>
            <a:off x="6418738" y="3888938"/>
            <a:ext cx="439928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Benefits &amp; Challenges</a:t>
            </a:r>
          </a:p>
          <a:p>
            <a:r>
              <a:rPr lang="en-US" sz="2000" dirty="0"/>
              <a:t>Scalability, Cost-efficiency vs. Security, Latency, Vendor Lock-in.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8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CCB71-EB42-58BC-2872-826F2000E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103211"/>
            <a:ext cx="9603275" cy="91252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Week 2: Deconstructing the "Task"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1D26-174A-40F7-81D2-654CD8C35F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6433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600" dirty="0"/>
              <a:t>A "task" in cloud computing refers to a unit of work submitted for execution, ranging from simple computations to complex multi-step processes. Effective scheduling is crucial for efficient cloud operations.</a:t>
            </a:r>
          </a:p>
          <a:p>
            <a:pPr marL="0" indent="0">
              <a:buNone/>
            </a:pPr>
            <a:r>
              <a:rPr lang="en-US" sz="2600" b="1" dirty="0"/>
              <a:t> Key Parameters</a:t>
            </a:r>
          </a:p>
          <a:p>
            <a:r>
              <a:rPr lang="en-US" sz="2600" b="1" dirty="0"/>
              <a:t>Deadline:</a:t>
            </a:r>
            <a:r>
              <a:rPr lang="en-US" sz="2600" dirty="0"/>
              <a:t> The time by which a task must be completed.</a:t>
            </a:r>
          </a:p>
          <a:p>
            <a:r>
              <a:rPr lang="en-US" sz="2600" b="1" dirty="0"/>
              <a:t>Priority:</a:t>
            </a:r>
            <a:r>
              <a:rPr lang="en-US" sz="2600" dirty="0"/>
              <a:t> The importance of a task relative to others.</a:t>
            </a:r>
          </a:p>
          <a:p>
            <a:r>
              <a:rPr lang="en-US" sz="2600" b="1" dirty="0"/>
              <a:t>Resource Demands:</a:t>
            </a:r>
            <a:r>
              <a:rPr lang="en-US" sz="2600" dirty="0"/>
              <a:t> CPU, memory, storage, and network bandwidth required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7075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6CB82-4D97-7FAD-C5F0-71DE33C76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Week 3: Classifying Cloud Tasks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FFE08E6-1E40-E33B-EA50-DF02823BD3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1329394"/>
              </p:ext>
            </p:extLst>
          </p:nvPr>
        </p:nvGraphicFramePr>
        <p:xfrm>
          <a:off x="1450975" y="2016124"/>
          <a:ext cx="9604374" cy="36734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2187">
                  <a:extLst>
                    <a:ext uri="{9D8B030D-6E8A-4147-A177-3AD203B41FA5}">
                      <a16:colId xmlns:a16="http://schemas.microsoft.com/office/drawing/2014/main" val="1382971768"/>
                    </a:ext>
                  </a:extLst>
                </a:gridCol>
                <a:gridCol w="4802187">
                  <a:extLst>
                    <a:ext uri="{9D8B030D-6E8A-4147-A177-3AD203B41FA5}">
                      <a16:colId xmlns:a16="http://schemas.microsoft.com/office/drawing/2014/main" val="4210428862"/>
                    </a:ext>
                  </a:extLst>
                </a:gridCol>
              </a:tblGrid>
              <a:tr h="183673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025072"/>
                  </a:ext>
                </a:extLst>
              </a:tr>
              <a:tr h="1836738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372701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109367B-CD03-0965-5B94-0946EFDD2130}"/>
              </a:ext>
            </a:extLst>
          </p:cNvPr>
          <p:cNvSpPr txBox="1"/>
          <p:nvPr/>
        </p:nvSpPr>
        <p:spPr>
          <a:xfrm>
            <a:off x="1584960" y="2094914"/>
            <a:ext cx="451104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Independent vs. Dependent</a:t>
            </a:r>
          </a:p>
          <a:p>
            <a:r>
              <a:rPr lang="en-US" sz="2400" dirty="0"/>
              <a:t>Tasks that can run concurrently vs. those requiring sequential execution.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80D064-93D5-9F18-245D-ABC52BB638C8}"/>
              </a:ext>
            </a:extLst>
          </p:cNvPr>
          <p:cNvSpPr txBox="1"/>
          <p:nvPr/>
        </p:nvSpPr>
        <p:spPr>
          <a:xfrm>
            <a:off x="6446202" y="2161401"/>
            <a:ext cx="42589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Real-time vs. Batch</a:t>
            </a:r>
          </a:p>
          <a:p>
            <a:r>
              <a:rPr lang="en-US" sz="2400" dirty="0"/>
              <a:t>Immediate processing needs vs. tasks processed in groups.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F9AA93-D48E-F6EB-F283-85D7D37B2015}"/>
              </a:ext>
            </a:extLst>
          </p:cNvPr>
          <p:cNvSpPr txBox="1"/>
          <p:nvPr/>
        </p:nvSpPr>
        <p:spPr>
          <a:xfrm>
            <a:off x="1563371" y="3852862"/>
            <a:ext cx="43484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CPU-bound/I-O-bound/Memory-intensive</a:t>
            </a:r>
          </a:p>
          <a:p>
            <a:r>
              <a:rPr lang="en-US" sz="2400" dirty="0"/>
              <a:t>Categorization by primary resource bottleneck.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9BA7A8-2D59-CAD4-41B6-45994B1E72FB}"/>
              </a:ext>
            </a:extLst>
          </p:cNvPr>
          <p:cNvSpPr txBox="1"/>
          <p:nvPr/>
        </p:nvSpPr>
        <p:spPr>
          <a:xfrm>
            <a:off x="6482080" y="3941573"/>
            <a:ext cx="400304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Static vs. Dynamic</a:t>
            </a:r>
          </a:p>
          <a:p>
            <a:r>
              <a:rPr lang="en-US" sz="2400" dirty="0"/>
              <a:t>Pre-defined resource needs vs. adaptable resource requirements.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522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0C8A1-76A9-9105-EFF1-230907DA1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Week 4: Exploring Scheduling Approaches</a:t>
            </a:r>
            <a:br>
              <a:rPr lang="en-US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7087ECB-3436-54B7-69ED-4E6BD71D52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1151447"/>
              </p:ext>
            </p:extLst>
          </p:nvPr>
        </p:nvGraphicFramePr>
        <p:xfrm>
          <a:off x="1212364" y="1999244"/>
          <a:ext cx="10479417" cy="4672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79417">
                  <a:extLst>
                    <a:ext uri="{9D8B030D-6E8A-4147-A177-3AD203B41FA5}">
                      <a16:colId xmlns:a16="http://schemas.microsoft.com/office/drawing/2014/main" val="1811210864"/>
                    </a:ext>
                  </a:extLst>
                </a:gridCol>
              </a:tblGrid>
              <a:tr h="155733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617362"/>
                  </a:ext>
                </a:extLst>
              </a:tr>
              <a:tr h="155733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0611331"/>
                  </a:ext>
                </a:extLst>
              </a:tr>
              <a:tr h="155733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5860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E2D6564-4C7C-E165-6FD3-4229F145F2C6}"/>
              </a:ext>
            </a:extLst>
          </p:cNvPr>
          <p:cNvSpPr txBox="1"/>
          <p:nvPr/>
        </p:nvSpPr>
        <p:spPr>
          <a:xfrm>
            <a:off x="1689583" y="1999244"/>
            <a:ext cx="100990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Heuristic Approaches</a:t>
            </a:r>
          </a:p>
          <a:p>
            <a:r>
              <a:rPr lang="en-US" sz="2000" b="1" dirty="0"/>
              <a:t>FCFS (First-Come, First-Served):</a:t>
            </a:r>
            <a:r>
              <a:rPr lang="en-US" sz="2000" dirty="0"/>
              <a:t> Simple queue-based.</a:t>
            </a:r>
          </a:p>
          <a:p>
            <a:r>
              <a:rPr lang="en-US" sz="2000" b="1" dirty="0"/>
              <a:t>SJF (Shortest Job First):</a:t>
            </a:r>
            <a:r>
              <a:rPr lang="en-US" sz="2000" dirty="0"/>
              <a:t> Prioritizes shorter tasks.</a:t>
            </a:r>
          </a:p>
          <a:p>
            <a:r>
              <a:rPr lang="en-US" sz="2000" b="1" dirty="0"/>
              <a:t>Round Robin:</a:t>
            </a:r>
            <a:r>
              <a:rPr lang="en-US" sz="2000" dirty="0"/>
              <a:t> Time-sliced execution for fairness.</a:t>
            </a:r>
          </a:p>
          <a:p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945BF-AE44-FC0C-C2DD-CDE4E23B0FB0}"/>
              </a:ext>
            </a:extLst>
          </p:cNvPr>
          <p:cNvSpPr txBox="1"/>
          <p:nvPr/>
        </p:nvSpPr>
        <p:spPr>
          <a:xfrm>
            <a:off x="1689583" y="3647340"/>
            <a:ext cx="1000219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Metaheuristic Approaches</a:t>
            </a:r>
          </a:p>
          <a:p>
            <a:r>
              <a:rPr lang="en-IN" sz="2000" b="1" dirty="0"/>
              <a:t>GA (Genetic Algorithms):</a:t>
            </a:r>
            <a:r>
              <a:rPr lang="en-IN" sz="2000" dirty="0"/>
              <a:t> Inspired by natural selection.</a:t>
            </a:r>
          </a:p>
          <a:p>
            <a:r>
              <a:rPr lang="en-IN" sz="2000" b="1" dirty="0"/>
              <a:t>PSO (Particle Swarm Optimization):</a:t>
            </a:r>
            <a:r>
              <a:rPr lang="en-IN" sz="2000" dirty="0"/>
              <a:t> Mimics social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  <a:p>
            <a:r>
              <a:rPr lang="en-IN" sz="2000" b="1" dirty="0"/>
              <a:t>ACO (Ant Colony Optimization):</a:t>
            </a:r>
            <a:r>
              <a:rPr lang="en-IN" sz="2000" dirty="0"/>
              <a:t> Based on ant foraging </a:t>
            </a:r>
            <a:r>
              <a:rPr lang="en-IN" sz="2000" dirty="0" err="1"/>
              <a:t>behavior</a:t>
            </a:r>
            <a:r>
              <a:rPr lang="en-IN" sz="2000" dirty="0"/>
              <a:t>.</a:t>
            </a:r>
          </a:p>
          <a:p>
            <a:endParaRPr lang="en-IN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9FC9FB-3894-C7D2-1852-916A903C12F0}"/>
              </a:ext>
            </a:extLst>
          </p:cNvPr>
          <p:cNvSpPr txBox="1"/>
          <p:nvPr/>
        </p:nvSpPr>
        <p:spPr>
          <a:xfrm>
            <a:off x="1689583" y="5270472"/>
            <a:ext cx="971296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Specialized Strategies</a:t>
            </a:r>
          </a:p>
          <a:p>
            <a:r>
              <a:rPr lang="en-US" sz="2000" b="1" dirty="0"/>
              <a:t>Workflow-based:</a:t>
            </a:r>
            <a:r>
              <a:rPr lang="en-US" sz="2000" dirty="0"/>
              <a:t> Optimizing entire task dependencies.</a:t>
            </a:r>
          </a:p>
          <a:p>
            <a:r>
              <a:rPr lang="en-US" sz="2000" b="1" dirty="0"/>
              <a:t>QoS-aware:</a:t>
            </a:r>
            <a:r>
              <a:rPr lang="en-US" sz="2000" dirty="0"/>
              <a:t> Meeting specific service quality demands.</a:t>
            </a:r>
          </a:p>
          <a:p>
            <a:r>
              <a:rPr lang="en-US" sz="2000" b="1" dirty="0"/>
              <a:t>Energy-efficient:</a:t>
            </a:r>
            <a:r>
              <a:rPr lang="en-US" sz="2000" dirty="0"/>
              <a:t> Minimizing power consumption.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435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6DD65-F33F-B433-1142-ECD9B5A36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IN" dirty="0"/>
            </a:br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4736AB7-EA6E-CD98-9EF0-D582E66E77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402210"/>
            <a:ext cx="875912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Established strong foundation in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cloud computing basics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Understood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tasks and their classifications]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Explored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scheduling approaches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(heuristic &amp; metaheuristic)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Built initial framework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optimizing task allocation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6131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235B12-6B85-4A0D-3F43-DC14B0429818}"/>
              </a:ext>
            </a:extLst>
          </p:cNvPr>
          <p:cNvSpPr txBox="1"/>
          <p:nvPr/>
        </p:nvSpPr>
        <p:spPr>
          <a:xfrm>
            <a:off x="4114800" y="2194560"/>
            <a:ext cx="3738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/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6CEB0-CF5B-5BF7-DFD3-F823FEA139DA}"/>
              </a:ext>
            </a:extLst>
          </p:cNvPr>
          <p:cNvSpPr txBox="1"/>
          <p:nvPr/>
        </p:nvSpPr>
        <p:spPr>
          <a:xfrm>
            <a:off x="7183120" y="4165600"/>
            <a:ext cx="4124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TANMAYEE CHANDA</a:t>
            </a:r>
            <a:br>
              <a:rPr lang="en-IN" dirty="0"/>
            </a:br>
            <a:r>
              <a:rPr lang="en-IN" dirty="0"/>
              <a:t>AP23110011035</a:t>
            </a:r>
          </a:p>
        </p:txBody>
      </p:sp>
    </p:spTree>
    <p:extLst>
      <p:ext uri="{BB962C8B-B14F-4D97-AF65-F5344CB8AC3E}">
        <p14:creationId xmlns:p14="http://schemas.microsoft.com/office/powerpoint/2010/main" val="289970666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29</TotalTime>
  <Words>480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Gill Sans MT</vt:lpstr>
      <vt:lpstr>Gallery</vt:lpstr>
      <vt:lpstr>Task Scheduling in Cloud Computing</vt:lpstr>
      <vt:lpstr>Purpose: Revolutionizing Cloud Task Allocation </vt:lpstr>
      <vt:lpstr>The Challenges of Manual Allocation </vt:lpstr>
      <vt:lpstr>Week 1: Laying the Foundation – Cloud Computing Basics </vt:lpstr>
      <vt:lpstr>Week 2: Deconstructing the "Task" </vt:lpstr>
      <vt:lpstr>Week 3: Classifying Cloud Tasks </vt:lpstr>
      <vt:lpstr>Week 4: Exploring Scheduling Approaches </vt:lpstr>
      <vt:lpstr>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Tanmayee Chanda</dc:creator>
  <cp:lastModifiedBy>Tanmayee Chanda</cp:lastModifiedBy>
  <cp:revision>1</cp:revision>
  <dcterms:created xsi:type="dcterms:W3CDTF">2025-08-31T05:54:43Z</dcterms:created>
  <dcterms:modified xsi:type="dcterms:W3CDTF">2025-08-31T06:24:03Z</dcterms:modified>
</cp:coreProperties>
</file>